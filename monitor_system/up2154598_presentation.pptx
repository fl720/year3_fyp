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  <p:sldId id="266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25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99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461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42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64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2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63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03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35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23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828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119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1425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100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51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39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D29E7-3A5D-4D60-801B-0E8723B3BA68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FE12B5-AD76-48F3-BCB5-DF8C1A0A84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6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B3AA1-60F0-99D8-6F2B-981276ECD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613" y="424282"/>
            <a:ext cx="9548774" cy="4344822"/>
          </a:xfrm>
        </p:spPr>
        <p:txBody>
          <a:bodyPr>
            <a:noAutofit/>
          </a:bodyPr>
          <a:lstStyle/>
          <a:p>
            <a:pPr algn="l"/>
            <a:r>
              <a:rPr lang="en-GB" sz="7200" b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Webcam Application for High-Risk Independent Resident</a:t>
            </a:r>
            <a:endParaRPr lang="en-GB" sz="7200" noProof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1816BE-90C8-1371-6061-B27FBC56A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4177" y="5604573"/>
            <a:ext cx="3179674" cy="829145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0"/>
              </a:spcAft>
              <a:buNone/>
            </a:pPr>
            <a:r>
              <a:rPr lang="en-GB" sz="1600" b="1" noProof="0" dirty="0"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UP2154598	</a:t>
            </a:r>
            <a:br>
              <a:rPr lang="en-GB" sz="1600" b="1" noProof="0" dirty="0"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GB" sz="1600" b="1" noProof="0" dirty="0"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Course: Computer Science </a:t>
            </a:r>
            <a:br>
              <a:rPr lang="en-GB" sz="1600" b="1" noProof="0" dirty="0"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GB" sz="1600" b="1" noProof="0" dirty="0"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Project code: PJE40 </a:t>
            </a:r>
          </a:p>
        </p:txBody>
      </p:sp>
    </p:spTree>
    <p:extLst>
      <p:ext uri="{BB962C8B-B14F-4D97-AF65-F5344CB8AC3E}">
        <p14:creationId xmlns:p14="http://schemas.microsoft.com/office/powerpoint/2010/main" val="309920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F8FAE-C968-657D-77DC-F77B333B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Topics We will Discuss: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EC3729-3432-9F9D-C15F-E035738FE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noProof="0" dirty="0">
                <a:effectLst/>
                <a:latin typeface="Open Sans" panose="020B0606030504020204" pitchFamily="34" charset="0"/>
              </a:rPr>
              <a:t>What is this project about and what did it aim to do.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noProof="0" dirty="0">
                <a:effectLst/>
                <a:latin typeface="Open Sans" panose="020B0606030504020204" pitchFamily="34" charset="0"/>
              </a:rPr>
              <a:t>What were done and what work were left to do.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>
                <a:latin typeface="Open Sans" panose="020B0606030504020204" pitchFamily="34" charset="0"/>
              </a:rPr>
              <a:t>M</a:t>
            </a:r>
            <a:r>
              <a:rPr lang="en-GB" b="0" i="0" noProof="0" dirty="0">
                <a:effectLst/>
                <a:latin typeface="Open Sans" panose="020B0606030504020204" pitchFamily="34" charset="0"/>
              </a:rPr>
              <a:t>ethodologies</a:t>
            </a:r>
            <a:r>
              <a:rPr lang="en-GB" dirty="0">
                <a:latin typeface="Open Sans" panose="020B0606030504020204" pitchFamily="34" charset="0"/>
              </a:rPr>
              <a:t> and approaches </a:t>
            </a:r>
            <a:endParaRPr lang="en-GB" b="0" i="0" noProof="0" dirty="0"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noProof="0" dirty="0">
                <a:effectLst/>
                <a:latin typeface="Open Sans" panose="020B0606030504020204" pitchFamily="34" charset="0"/>
              </a:rPr>
              <a:t>Problems during the development processes and solutions.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noProof="0" dirty="0">
                <a:effectLst/>
                <a:latin typeface="Open Sans" panose="020B0606030504020204" pitchFamily="34" charset="0"/>
              </a:rPr>
              <a:t>What do we actually get from this project.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Open Sans" panose="020B0606030504020204" pitchFamily="34" charset="0"/>
              </a:rPr>
              <a:t>A demo</a:t>
            </a:r>
            <a:endParaRPr lang="en-GB" b="0" i="0" noProof="0" dirty="0">
              <a:effectLst/>
              <a:latin typeface="Open Sans" panose="020B0606030504020204" pitchFamily="34" charset="0"/>
            </a:endParaRP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6825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59F60-E5D5-59C1-F5B9-3A4922D6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Project Aim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816EF-F1A1-1423-998D-C2563A4FD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5418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This project is aiming to protect high-risk resident who live on their own.</a:t>
            </a:r>
          </a:p>
          <a:p>
            <a:pPr lvl="1"/>
            <a:r>
              <a:rPr lang="en-GB" noProof="0" dirty="0"/>
              <a:t>High-risk could be anyone who are venerable that a fall could cause a severe injury or even death. </a:t>
            </a:r>
          </a:p>
          <a:p>
            <a:pPr lvl="1"/>
            <a:r>
              <a:rPr lang="en-GB" dirty="0"/>
              <a:t>Hardware equipment as less as possible, as accessible as possible. </a:t>
            </a:r>
            <a:endParaRPr lang="en-GB" noProof="0" dirty="0"/>
          </a:p>
          <a:p>
            <a:pPr lvl="1"/>
            <a:endParaRPr lang="en-GB" noProof="0" dirty="0"/>
          </a:p>
          <a:p>
            <a:r>
              <a:rPr lang="en-GB" noProof="0" dirty="0"/>
              <a:t>The monitor application should be able to detect a fall happened on the high-risk resident and able to inform someone that are responsible for this scenario.(i.e. Children, warden, neighbours, etc.)</a:t>
            </a:r>
          </a:p>
          <a:p>
            <a:endParaRPr lang="en-GB" dirty="0"/>
          </a:p>
          <a:p>
            <a:r>
              <a:rPr lang="en-GB" noProof="0" dirty="0"/>
              <a:t>Temperature has become another factor that causes high-risk resident’s death ( elderly mainly). The application shou</a:t>
            </a:r>
            <a:r>
              <a:rPr lang="en-GB" dirty="0" err="1"/>
              <a:t>ld</a:t>
            </a:r>
            <a:r>
              <a:rPr lang="en-GB" dirty="0"/>
              <a:t> also be able to provide relevant text advise based on temperature and humidity level.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8455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AFCE4-A207-DAB5-0616-78B4E9A02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Constrains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9FB6B-4D67-EF61-9FBF-2E9A1DBE8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985"/>
            <a:ext cx="8596668" cy="3880773"/>
          </a:xfrm>
        </p:spPr>
        <p:txBody>
          <a:bodyPr/>
          <a:lstStyle/>
          <a:p>
            <a:r>
              <a:rPr lang="en-US" altLang="zh-CN" dirty="0"/>
              <a:t>This project only produce a prototype of the Monitor Application. The final outcome is still far away from commercialese and does not extend to any clinical compliance for any medical-grade devices. </a:t>
            </a:r>
          </a:p>
          <a:p>
            <a:endParaRPr lang="en-US" altLang="zh-CN" dirty="0"/>
          </a:p>
          <a:p>
            <a:r>
              <a:rPr lang="en-US" altLang="zh-CN" dirty="0"/>
              <a:t>This project is developed under consumer-grade hardware (CPU and webcam), and is not designed for multi-camera setups. </a:t>
            </a:r>
          </a:p>
          <a:p>
            <a:endParaRPr lang="en-US" altLang="zh-CN" dirty="0"/>
          </a:p>
          <a:p>
            <a:r>
              <a:rPr lang="en-US" altLang="zh-CN" dirty="0"/>
              <a:t>This project has strictly followed university’s Ethics Review, no personal identity or information will be uploaded and used in a harmful way.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9444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1C7CB-EF64-4129-9D45-E25FF88A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Choose to Use Webcam?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A3BF604-30A1-732C-FED6-F8785D610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016479"/>
              </p:ext>
            </p:extLst>
          </p:nvPr>
        </p:nvGraphicFramePr>
        <p:xfrm>
          <a:off x="677336" y="1513114"/>
          <a:ext cx="11034300" cy="5063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2130">
                  <a:extLst>
                    <a:ext uri="{9D8B030D-6E8A-4147-A177-3AD203B41FA5}">
                      <a16:colId xmlns:a16="http://schemas.microsoft.com/office/drawing/2014/main" val="3918352041"/>
                    </a:ext>
                  </a:extLst>
                </a:gridCol>
                <a:gridCol w="4523111">
                  <a:extLst>
                    <a:ext uri="{9D8B030D-6E8A-4147-A177-3AD203B41FA5}">
                      <a16:colId xmlns:a16="http://schemas.microsoft.com/office/drawing/2014/main" val="2594622080"/>
                    </a:ext>
                  </a:extLst>
                </a:gridCol>
                <a:gridCol w="4919059">
                  <a:extLst>
                    <a:ext uri="{9D8B030D-6E8A-4147-A177-3AD203B41FA5}">
                      <a16:colId xmlns:a16="http://schemas.microsoft.com/office/drawing/2014/main" val="2893417031"/>
                    </a:ext>
                  </a:extLst>
                </a:gridCol>
              </a:tblGrid>
              <a:tr h="611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Types of Fall Detection System 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Detection Methods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Issues</a:t>
                      </a:r>
                      <a:endParaRPr lang="zh-CN" sz="18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extLst>
                  <a:ext uri="{0D108BD9-81ED-4DB2-BD59-A6C34878D82A}">
                    <a16:rowId xmlns:a16="http://schemas.microsoft.com/office/drawing/2014/main" val="3393936369"/>
                  </a:ext>
                </a:extLst>
              </a:tr>
              <a:tr h="611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Wearable Sensors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Using accelerometer to identify the motion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The user needs to wear this type of sensor all the time and place it around the correct part of the body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/>
                </a:tc>
                <a:extLst>
                  <a:ext uri="{0D108BD9-81ED-4DB2-BD59-A6C34878D82A}">
                    <a16:rowId xmlns:a16="http://schemas.microsoft.com/office/drawing/2014/main" val="3674531220"/>
                  </a:ext>
                </a:extLst>
              </a:tr>
              <a:tr h="611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Acoustic Sensors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Classify the sounds of all fall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Could be easily affected by background noise</a:t>
                      </a:r>
                      <a:endParaRPr lang="zh-CN" sz="18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/>
                </a:tc>
                <a:extLst>
                  <a:ext uri="{0D108BD9-81ED-4DB2-BD59-A6C34878D82A}">
                    <a16:rowId xmlns:a16="http://schemas.microsoft.com/office/drawing/2014/main" val="2198377830"/>
                  </a:ext>
                </a:extLst>
              </a:tr>
              <a:tr h="7857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Floor Pressure Sensors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Either uses pressure sensor to detect the fall, or detect the vibration from the impact of fall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This field is still under research and some types of the floor pressure sensor need to be placed on the entire floor which increases the cost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/>
                </a:tc>
                <a:extLst>
                  <a:ext uri="{0D108BD9-81ED-4DB2-BD59-A6C34878D82A}">
                    <a16:rowId xmlns:a16="http://schemas.microsoft.com/office/drawing/2014/main" val="4270235832"/>
                  </a:ext>
                </a:extLst>
              </a:tr>
              <a:tr h="611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Infrared Sensors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Uses infrared to detect the change of motion when a fall happened with carefully placed equipment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Need to be carefully select the places and specialised equipment is required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/>
                </a:tc>
                <a:extLst>
                  <a:ext uri="{0D108BD9-81ED-4DB2-BD59-A6C34878D82A}">
                    <a16:rowId xmlns:a16="http://schemas.microsoft.com/office/drawing/2014/main" val="4152714645"/>
                  </a:ext>
                </a:extLst>
              </a:tr>
              <a:tr h="611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Radar Sensors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Uses radar to detect the change of motion when a fall happened with carefully placed equipment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Need to be carefully select the places and specialised equipment is required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/>
                </a:tc>
                <a:extLst>
                  <a:ext uri="{0D108BD9-81ED-4DB2-BD59-A6C34878D82A}">
                    <a16:rowId xmlns:a16="http://schemas.microsoft.com/office/drawing/2014/main" val="3673315789"/>
                  </a:ext>
                </a:extLst>
              </a:tr>
              <a:tr h="611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Ultrasonic Sensors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Uses ultrasonic wave to detect the change of motion when a fall happened with carefully placed equipment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Need to be carefully select the places and specialised equipment is required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/>
                </a:tc>
                <a:extLst>
                  <a:ext uri="{0D108BD9-81ED-4DB2-BD59-A6C34878D82A}">
                    <a16:rowId xmlns:a16="http://schemas.microsoft.com/office/drawing/2014/main" val="504472125"/>
                  </a:ext>
                </a:extLst>
              </a:tr>
              <a:tr h="611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Image Sensors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Uses visual to detect falls directly</a:t>
                      </a:r>
                      <a:endParaRPr lang="zh-CN" sz="18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One of the most common types of fall detection method. However, some of them requires a depth camera as well as a normal camera</a:t>
                      </a:r>
                      <a:endParaRPr lang="zh-CN" sz="18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464" marR="9464" marT="9464" marB="9464"/>
                </a:tc>
                <a:extLst>
                  <a:ext uri="{0D108BD9-81ED-4DB2-BD59-A6C34878D82A}">
                    <a16:rowId xmlns:a16="http://schemas.microsoft.com/office/drawing/2014/main" val="1333818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23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26E3D-4E70-C12C-CF3F-8C89807F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Choose to Use Webcam?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7CFDB-2F61-03C3-4EFB-EE96B2EE2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3992"/>
            <a:ext cx="8459860" cy="4249105"/>
          </a:xfrm>
        </p:spPr>
        <p:txBody>
          <a:bodyPr/>
          <a:lstStyle/>
          <a:p>
            <a:r>
              <a:rPr lang="en-US" altLang="zh-CN" dirty="0" err="1"/>
              <a:t>OpenPose</a:t>
            </a:r>
            <a:r>
              <a:rPr lang="en-US" altLang="zh-CN" dirty="0"/>
              <a:t>, </a:t>
            </a:r>
            <a:r>
              <a:rPr lang="en-US" altLang="zh-CN" dirty="0" err="1"/>
              <a:t>BlazePose</a:t>
            </a:r>
            <a:r>
              <a:rPr lang="en-US" altLang="zh-CN" dirty="0"/>
              <a:t>, </a:t>
            </a:r>
            <a:r>
              <a:rPr lang="en-US" altLang="zh-CN" dirty="0" err="1"/>
              <a:t>MediaPipe</a:t>
            </a:r>
            <a:r>
              <a:rPr lang="en-US" altLang="zh-CN" dirty="0"/>
              <a:t>, etc. proof pose estimation is a possible. </a:t>
            </a:r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Capable of achieving high accuracy rate.</a:t>
            </a:r>
          </a:p>
          <a:p>
            <a:endParaRPr lang="en-US" altLang="zh-CN" dirty="0"/>
          </a:p>
          <a:p>
            <a:pPr lvl="1"/>
            <a:r>
              <a:rPr lang="en-US" altLang="zh-CN" dirty="0"/>
              <a:t>Demand for high computational power </a:t>
            </a:r>
          </a:p>
          <a:p>
            <a:endParaRPr lang="en-US" altLang="zh-CN" dirty="0"/>
          </a:p>
          <a:p>
            <a:pPr lvl="1"/>
            <a:r>
              <a:rPr lang="en-US" altLang="zh-CN" dirty="0"/>
              <a:t>Depth camera is required.</a:t>
            </a:r>
          </a:p>
          <a:p>
            <a:endParaRPr lang="en-US" altLang="zh-CN" dirty="0"/>
          </a:p>
          <a:p>
            <a:r>
              <a:rPr lang="en-US" altLang="zh-CN" b="1" dirty="0"/>
              <a:t>We can define a fall as a set of poses. </a:t>
            </a:r>
          </a:p>
          <a:p>
            <a:endParaRPr lang="zh-CN" alt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DED9714-55DA-910C-B749-F29CFB88D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694" y="3038475"/>
            <a:ext cx="57150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7B1D049-B3C0-898B-5D2F-22C5C80A05C4}"/>
              </a:ext>
            </a:extLst>
          </p:cNvPr>
          <p:cNvSpPr txBox="1"/>
          <p:nvPr/>
        </p:nvSpPr>
        <p:spPr>
          <a:xfrm>
            <a:off x="6183086" y="6309167"/>
            <a:ext cx="600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An example of using pose estimation based on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</a:rPr>
              <a:t>OpenPose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788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442D9-1AA8-1427-784F-4AFDFEE3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Custom CNN or Pre-Train Model?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AA883-B687-0671-0C48-FD631DF18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5418"/>
            <a:ext cx="8596668" cy="3880773"/>
          </a:xfrm>
        </p:spPr>
        <p:txBody>
          <a:bodyPr/>
          <a:lstStyle/>
          <a:p>
            <a:r>
              <a:rPr lang="en-US" altLang="zh-CN" dirty="0"/>
              <a:t>Initially, a custom CNN was more preferable. </a:t>
            </a:r>
          </a:p>
          <a:p>
            <a:pPr lvl="1"/>
            <a:r>
              <a:rPr lang="en-US" altLang="zh-CN" dirty="0"/>
              <a:t>A research in 2017 prove it is working </a:t>
            </a:r>
          </a:p>
          <a:p>
            <a:pPr lvl="1"/>
            <a:r>
              <a:rPr lang="en-US" altLang="zh-CN" dirty="0"/>
              <a:t>Hardware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Low accuracy rate, long training time.</a:t>
            </a:r>
          </a:p>
          <a:p>
            <a:pPr lvl="1"/>
            <a:r>
              <a:rPr lang="en-US" altLang="zh-CN" dirty="0"/>
              <a:t>More than 15,000 RGB images were used. </a:t>
            </a:r>
          </a:p>
          <a:p>
            <a:pPr lvl="1"/>
            <a:r>
              <a:rPr lang="en-US" altLang="zh-CN" dirty="0"/>
              <a:t>3 Convolutional layers was chosen </a:t>
            </a:r>
          </a:p>
          <a:p>
            <a:pPr lvl="1"/>
            <a:r>
              <a:rPr lang="en-US" altLang="zh-CN" dirty="0"/>
              <a:t>One-third accuracy rate for validation, train loss of 1.2</a:t>
            </a:r>
          </a:p>
          <a:p>
            <a:pPr lvl="1"/>
            <a:r>
              <a:rPr lang="en-US" altLang="zh-CN" dirty="0"/>
              <a:t>Overfitting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700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79A3F-CD60-27D0-EB89-1D3333F99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Custom CNN or Pre-Train Model?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E82BE7-8F35-E903-6CF6-014B83983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2503"/>
            <a:ext cx="8596668" cy="3880773"/>
          </a:xfrm>
        </p:spPr>
        <p:txBody>
          <a:bodyPr/>
          <a:lstStyle/>
          <a:p>
            <a:r>
              <a:rPr lang="en-US" altLang="zh-CN" dirty="0"/>
              <a:t>Due to time limit, YOLO11n from </a:t>
            </a:r>
            <a:r>
              <a:rPr lang="en-US" altLang="zh-CN" dirty="0" err="1"/>
              <a:t>Ultralytics</a:t>
            </a:r>
            <a:r>
              <a:rPr lang="en-US" altLang="zh-CN" dirty="0"/>
              <a:t> was selected. </a:t>
            </a:r>
          </a:p>
          <a:p>
            <a:pPr lvl="1"/>
            <a:r>
              <a:rPr lang="en-US" altLang="zh-CN" dirty="0"/>
              <a:t>It allows ONLY RGB images as an input. No need for depth camera. </a:t>
            </a:r>
          </a:p>
          <a:p>
            <a:pPr lvl="1"/>
            <a:r>
              <a:rPr lang="en-US" altLang="zh-CN" dirty="0"/>
              <a:t>Easy for setup, only need to define the pose of Lying by define the number of angles between some key points.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set of 1500+ images were selected from custom CNN training set. YOLO11n can correctly identify more than 76% of the input photo correctly. </a:t>
            </a:r>
          </a:p>
        </p:txBody>
      </p:sp>
    </p:spTree>
    <p:extLst>
      <p:ext uri="{BB962C8B-B14F-4D97-AF65-F5344CB8AC3E}">
        <p14:creationId xmlns:p14="http://schemas.microsoft.com/office/powerpoint/2010/main" val="400274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3D5F4-AC26-126E-23E6-C7B5EBDF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Environmental Advisory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04BD13-68ED-D18F-B55A-D24C0AB01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altLang="zh-CN" dirty="0"/>
              <a:t>A supervised neural network was trained to give the output based on temperature and humidity. </a:t>
            </a:r>
          </a:p>
          <a:p>
            <a:pPr lvl="1"/>
            <a:r>
              <a:rPr lang="en-US" altLang="zh-CN" dirty="0"/>
              <a:t>Trained dataset was labeled based on Heat Index (NOAA). </a:t>
            </a:r>
          </a:p>
          <a:p>
            <a:pPr lvl="1"/>
            <a:r>
              <a:rPr lang="en-US" altLang="zh-CN" dirty="0"/>
              <a:t>Low temperature was labeled if temperature is below 15</a:t>
            </a:r>
            <a:r>
              <a:rPr lang="en-GB" altLang="zh-CN" sz="1800" dirty="0"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°C</a:t>
            </a:r>
          </a:p>
          <a:p>
            <a:pPr lvl="1"/>
            <a:r>
              <a:rPr lang="en-GB" altLang="zh-CN" sz="1800" dirty="0">
                <a:latin typeface="Arial" panose="020B0604020202020204" pitchFamily="34" charset="0"/>
                <a:ea typeface="等线" panose="02010600030101010101" pitchFamily="2" charset="-122"/>
              </a:rPr>
              <a:t>Gets temperature and humidity level from Weather API.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69FB0D6-3FA5-2AE3-B521-12ADB4ED4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697304"/>
              </p:ext>
            </p:extLst>
          </p:nvPr>
        </p:nvGraphicFramePr>
        <p:xfrm>
          <a:off x="677334" y="3335145"/>
          <a:ext cx="8596668" cy="34461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0145">
                  <a:extLst>
                    <a:ext uri="{9D8B030D-6E8A-4147-A177-3AD203B41FA5}">
                      <a16:colId xmlns:a16="http://schemas.microsoft.com/office/drawing/2014/main" val="743946758"/>
                    </a:ext>
                  </a:extLst>
                </a:gridCol>
                <a:gridCol w="1611151">
                  <a:extLst>
                    <a:ext uri="{9D8B030D-6E8A-4147-A177-3AD203B41FA5}">
                      <a16:colId xmlns:a16="http://schemas.microsoft.com/office/drawing/2014/main" val="2770496092"/>
                    </a:ext>
                  </a:extLst>
                </a:gridCol>
                <a:gridCol w="5625372">
                  <a:extLst>
                    <a:ext uri="{9D8B030D-6E8A-4147-A177-3AD203B41FA5}">
                      <a16:colId xmlns:a16="http://schemas.microsoft.com/office/drawing/2014/main" val="2438001689"/>
                    </a:ext>
                  </a:extLst>
                </a:gridCol>
              </a:tblGrid>
              <a:tr h="43526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Temperature (°C)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</a:rPr>
                        <a:t>Relative Humidity (%)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</a:rPr>
                        <a:t>Advisory Messages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0336194"/>
                  </a:ext>
                </a:extLst>
              </a:tr>
              <a:tr h="29208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altLang="zh-CN" sz="1200" dirty="0"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&lt;15 or &gt; 30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&lt; 40 or &lt; 30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Too dry, suggest use of moist lotion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992530620"/>
                  </a:ext>
                </a:extLst>
              </a:tr>
              <a:tr h="29208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&lt; 15 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&lt; 40 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Too cold, please turn the heating on.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7412769"/>
                  </a:ext>
                </a:extLst>
              </a:tr>
              <a:tr h="40531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&lt; 12 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Any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Too cold, please wear more clothes and have a cup of hot drink! 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156217124"/>
                  </a:ext>
                </a:extLst>
              </a:tr>
              <a:tr h="29208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15 – 27 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Any 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Normal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167175436"/>
                  </a:ext>
                </a:extLst>
              </a:tr>
              <a:tr h="12999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</a:rPr>
                        <a:t>27 - 43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Any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(Depends on the Heat Index Level provided by NOAA)</a:t>
                      </a:r>
                      <a:endParaRPr lang="zh-CN" sz="12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>
                          <a:effectLst/>
                        </a:rPr>
                        <a:t>Caution! High temperature </a:t>
                      </a:r>
                      <a:endParaRPr lang="zh-CN" sz="12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>
                          <a:effectLst/>
                        </a:rPr>
                        <a:t>Extreme caution! High temperature </a:t>
                      </a:r>
                      <a:endParaRPr lang="zh-CN" sz="12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>
                          <a:effectLst/>
                        </a:rPr>
                        <a:t>Danger! High temperature, please avoid outdoor activities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166715213"/>
                  </a:ext>
                </a:extLst>
              </a:tr>
              <a:tr h="40531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&gt; 43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Any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</a:rPr>
                        <a:t>Extreme danger! High temperature, please stay indoor until sunset!</a:t>
                      </a:r>
                      <a:endParaRPr lang="zh-CN" sz="12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991259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838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ECCAB-9B0C-FC6A-67D7-D7A8AA4E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Environmental Advisory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E5D00-476F-CF5C-D2E3-4B0CE19AD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altLang="zh-CN" dirty="0"/>
              <a:t>91.5% accuracy rate during testing with </a:t>
            </a:r>
            <a:r>
              <a:rPr lang="en-GB" altLang="zh-CN" sz="1800" dirty="0"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total of 55 different temperature values (ranging from -10 °C to 44 °C) </a:t>
            </a:r>
            <a:r>
              <a:rPr lang="en-GB" altLang="zh-CN" sz="1800"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and different 21 </a:t>
            </a:r>
            <a:r>
              <a:rPr lang="en-GB" altLang="zh-CN" sz="1800" dirty="0"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relative humidity levels (ranging from 0% to 100% at 5% intervals)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FFAC04-6569-6060-BC7F-3593B7FD86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19" y="3429000"/>
            <a:ext cx="11936608" cy="2688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5461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7FE72-D1AE-1C11-E074-880792AD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Fall Detection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679EA-D0AE-0128-AF0B-995FBDCE9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7189"/>
            <a:ext cx="8596668" cy="3880773"/>
          </a:xfrm>
        </p:spPr>
        <p:txBody>
          <a:bodyPr/>
          <a:lstStyle/>
          <a:p>
            <a:r>
              <a:rPr lang="en-US" altLang="zh-CN" dirty="0"/>
              <a:t>Fall detection is defined as two continuous frames input being identifies as “LYING” pose. </a:t>
            </a:r>
          </a:p>
          <a:p>
            <a:endParaRPr lang="en-US" altLang="zh-CN" dirty="0"/>
          </a:p>
          <a:p>
            <a:r>
              <a:rPr lang="en-US" altLang="zh-CN" dirty="0"/>
              <a:t>Lying pose is based on a pre-set data in the RuleBasedFallDetect.py that measures the angles between key points. </a:t>
            </a:r>
          </a:p>
          <a:p>
            <a:endParaRPr lang="en-US" altLang="zh-CN" dirty="0"/>
          </a:p>
          <a:p>
            <a:r>
              <a:rPr lang="en-US" altLang="zh-CN" dirty="0"/>
              <a:t>When the pose estimation model return “FALL”, it will trigger email alert system to send a pre-written email to inform relevant person.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3278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3C8BF2-77A7-F6D7-A5BF-5648D89A0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488613"/>
            <a:ext cx="8596668" cy="3880773"/>
          </a:xfrm>
        </p:spPr>
        <p:txBody>
          <a:bodyPr/>
          <a:lstStyle/>
          <a:p>
            <a:r>
              <a:rPr lang="en-US" altLang="zh-CN" dirty="0"/>
              <a:t>A cooldown system is introduced to prevent “spamming” the receiver when a fall is happened.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FE7DCDF-889C-DC7D-F924-BC84F4F5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n-US" altLang="zh-CN" dirty="0"/>
              <a:t>Fall Detection </a:t>
            </a:r>
            <a:endParaRPr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B54C174-BE58-6DCF-97F0-0D637D4E5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647" y="2123179"/>
            <a:ext cx="6710008" cy="280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图片 1">
            <a:extLst>
              <a:ext uri="{FF2B5EF4-FFF2-40B4-BE49-F238E27FC236}">
                <a16:creationId xmlns:a16="http://schemas.microsoft.com/office/drawing/2014/main" id="{F981F155-1C60-BCB2-E3BF-F3784A0D4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647" y="4927598"/>
            <a:ext cx="6710007" cy="140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2E305E6-56B0-DE52-65CA-6911A7B05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334A6E6-2658-2523-52B3-CAA90FB5C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22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749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73955-8571-E141-2E00-27E8136B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 Page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DD064-58B8-E585-A34D-9D9624881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88614"/>
            <a:ext cx="4184035" cy="3880772"/>
          </a:xfrm>
        </p:spPr>
        <p:txBody>
          <a:bodyPr>
            <a:normAutofit/>
          </a:bodyPr>
          <a:lstStyle/>
          <a:p>
            <a:r>
              <a:rPr lang="en-US" altLang="zh-CN" dirty="0"/>
              <a:t>The Monitor Application will be divided in to frontend and backend. </a:t>
            </a:r>
          </a:p>
          <a:p>
            <a:endParaRPr lang="en-US" altLang="zh-CN" dirty="0"/>
          </a:p>
          <a:p>
            <a:r>
              <a:rPr lang="en-US" altLang="zh-CN" dirty="0"/>
              <a:t>The backend system deals with the environmental advisory output and fall detection system. </a:t>
            </a:r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374A12-81D7-25CD-3900-B2E25E4BC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112" y="1488614"/>
            <a:ext cx="6971402" cy="497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68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1E3EB-CE6F-366A-134C-E0052548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Web Page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29BFC-A4ED-16CF-0799-4547776F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256"/>
            <a:ext cx="3213603" cy="3880773"/>
          </a:xfrm>
        </p:spPr>
        <p:txBody>
          <a:bodyPr/>
          <a:lstStyle/>
          <a:p>
            <a:r>
              <a:rPr lang="en-US" altLang="zh-CN" dirty="0"/>
              <a:t>Frontend gets the environmental output, webcam image and the pose estimated by the model. </a:t>
            </a:r>
          </a:p>
          <a:p>
            <a:endParaRPr lang="en-US" altLang="zh-CN" dirty="0"/>
          </a:p>
          <a:p>
            <a:r>
              <a:rPr lang="en-US" altLang="zh-CN" dirty="0"/>
              <a:t>It can also manually turn-off the webcam and refresh the weather information. 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FBDE25-9B8B-8B4D-072B-A7AC788AE5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1" t="1422"/>
          <a:stretch/>
        </p:blipFill>
        <p:spPr bwMode="auto">
          <a:xfrm>
            <a:off x="3890937" y="1642256"/>
            <a:ext cx="8158461" cy="41554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830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9CCCE-8FEB-078E-EBB9-0B8E56D4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Outcome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861096-E500-2585-3712-B7D816B17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8961"/>
            <a:ext cx="4746951" cy="3880982"/>
          </a:xfrm>
        </p:spPr>
        <p:txBody>
          <a:bodyPr/>
          <a:lstStyle/>
          <a:p>
            <a:r>
              <a:rPr lang="en-US" altLang="zh-CN" dirty="0"/>
              <a:t>Server </a:t>
            </a:r>
            <a:r>
              <a:rPr lang="en-US" altLang="zh-CN" dirty="0">
                <a:solidFill>
                  <a:schemeClr val="tx1"/>
                </a:solidFill>
              </a:rPr>
              <a:t>ensured that it can only be access locally (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127.0.0.1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chemeClr val="tx1"/>
                </a:solidFill>
              </a:rPr>
              <a:t>. 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The frame rate was set to be 2FPS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Able to predict a fall and send the email alert!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Environmental advisory modulo works normally. 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1EEAA4-A38D-01AF-E210-5687BEEDE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342" y="1648961"/>
            <a:ext cx="6491943" cy="323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40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A804D1-7319-86B4-8CE7-8012B006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Problems and Solutions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B3DC54-7C4F-6389-3EE0-2AE93CEFD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altLang="zh-CN" dirty="0"/>
              <a:t>Frame rate was set to be 2FPS </a:t>
            </a:r>
          </a:p>
          <a:p>
            <a:pPr lvl="1"/>
            <a:r>
              <a:rPr lang="en-US" altLang="zh-CN" dirty="0"/>
              <a:t>Screenshot function becomes weird at 4FPS</a:t>
            </a:r>
          </a:p>
          <a:p>
            <a:pPr lvl="1"/>
            <a:r>
              <a:rPr lang="en-US" altLang="zh-CN" dirty="0"/>
              <a:t>Failed to give a higher FPS  </a:t>
            </a:r>
          </a:p>
          <a:p>
            <a:endParaRPr lang="en-US" altLang="zh-CN" dirty="0"/>
          </a:p>
          <a:p>
            <a:r>
              <a:rPr lang="en-US" altLang="zh-CN" dirty="0"/>
              <a:t>Model accuracy rate was 76%</a:t>
            </a:r>
          </a:p>
          <a:p>
            <a:pPr lvl="1"/>
            <a:r>
              <a:rPr lang="en-US" altLang="zh-CN" dirty="0"/>
              <a:t>Better than Custom CNN, but still could be improved.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Laptop with High-end GPU was crashed on April</a:t>
            </a:r>
          </a:p>
          <a:p>
            <a:pPr lvl="1"/>
            <a:r>
              <a:rPr lang="en-US" altLang="zh-CN" dirty="0"/>
              <a:t>Change the approach from livestream to pose estimation based on screenshot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42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92E29-9247-2004-026D-B17E22B7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dirty="0">
                <a:effectLst/>
                <a:latin typeface="Open Sans" panose="020B0606030504020204" pitchFamily="34" charset="0"/>
              </a:rPr>
              <a:t>Future Work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6AC46-64BF-A270-BFF8-986755E78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8613"/>
            <a:ext cx="8793237" cy="5249644"/>
          </a:xfrm>
        </p:spPr>
        <p:txBody>
          <a:bodyPr/>
          <a:lstStyle/>
          <a:p>
            <a:r>
              <a:rPr lang="en-US" altLang="zh-CN" dirty="0"/>
              <a:t>Still far from total complete…</a:t>
            </a:r>
          </a:p>
          <a:p>
            <a:pPr lvl="1"/>
            <a:r>
              <a:rPr lang="en-US" altLang="zh-CN" dirty="0"/>
              <a:t>Higher FPS or even capable to detect a fall in the livestream video</a:t>
            </a:r>
          </a:p>
          <a:p>
            <a:pPr lvl="1"/>
            <a:r>
              <a:rPr lang="en-US" altLang="zh-CN" dirty="0"/>
              <a:t>Higher accuracy</a:t>
            </a:r>
          </a:p>
          <a:p>
            <a:endParaRPr lang="en-US" altLang="zh-CN" dirty="0"/>
          </a:p>
          <a:p>
            <a:r>
              <a:rPr lang="en-US" altLang="zh-CN" dirty="0"/>
              <a:t>Log of activity time</a:t>
            </a:r>
          </a:p>
          <a:p>
            <a:endParaRPr lang="en-US" altLang="zh-CN" dirty="0"/>
          </a:p>
          <a:p>
            <a:r>
              <a:rPr lang="en-US" altLang="zh-CN" dirty="0"/>
              <a:t>Additional notification features</a:t>
            </a:r>
          </a:p>
          <a:p>
            <a:endParaRPr lang="en-US" altLang="zh-CN" dirty="0"/>
          </a:p>
          <a:p>
            <a:r>
              <a:rPr lang="en-US" altLang="zh-CN" dirty="0"/>
              <a:t>Reminder of taking the pills for elderly</a:t>
            </a:r>
          </a:p>
          <a:p>
            <a:endParaRPr lang="en-US" altLang="zh-CN" dirty="0"/>
          </a:p>
          <a:p>
            <a:r>
              <a:rPr lang="en-US" altLang="zh-CN" dirty="0"/>
              <a:t>Offline Advisory mode with external digital environment sensors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757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8D1C5-0F02-FDA3-DE7E-FEB76B33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 Have Learnt from This Project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16E27D-84E6-1778-78DE-A5E1FB50C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7189"/>
            <a:ext cx="8596668" cy="3880773"/>
          </a:xfrm>
        </p:spPr>
        <p:txBody>
          <a:bodyPr/>
          <a:lstStyle/>
          <a:p>
            <a:r>
              <a:rPr lang="en-US" altLang="zh-CN" dirty="0"/>
              <a:t>Time management</a:t>
            </a:r>
          </a:p>
          <a:p>
            <a:endParaRPr lang="en-US" altLang="zh-CN" dirty="0"/>
          </a:p>
          <a:p>
            <a:r>
              <a:rPr lang="en-US" altLang="zh-CN" dirty="0"/>
              <a:t>Never rely on one single equipment and always have a back-up</a:t>
            </a:r>
          </a:p>
          <a:p>
            <a:endParaRPr lang="en-US" altLang="zh-CN" dirty="0"/>
          </a:p>
          <a:p>
            <a:r>
              <a:rPr lang="en-US" altLang="zh-CN" dirty="0"/>
              <a:t>Better understanding of the CNN and neural network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697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F988D-6BB6-CC96-8952-F160C08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 you for listening!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675463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1587</TotalTime>
  <Words>1219</Words>
  <Application>Microsoft Office PowerPoint</Application>
  <PresentationFormat>宽屏</PresentationFormat>
  <Paragraphs>159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Cascadia Code</vt:lpstr>
      <vt:lpstr>Consolas</vt:lpstr>
      <vt:lpstr>Open Sans</vt:lpstr>
      <vt:lpstr>Trebuchet MS</vt:lpstr>
      <vt:lpstr>Wingdings 3</vt:lpstr>
      <vt:lpstr>平面</vt:lpstr>
      <vt:lpstr>Webcam Application for High-Risk Independent Resident</vt:lpstr>
      <vt:lpstr>Topics We will Discuss:</vt:lpstr>
      <vt:lpstr>Project Aim </vt:lpstr>
      <vt:lpstr>Constrains </vt:lpstr>
      <vt:lpstr>Why Choose to Use Webcam?</vt:lpstr>
      <vt:lpstr>Why Choose to Use Webcam?</vt:lpstr>
      <vt:lpstr>Custom CNN or Pre-Train Model? </vt:lpstr>
      <vt:lpstr>Custom CNN or Pre-Train Model? </vt:lpstr>
      <vt:lpstr>Environmental Advisory</vt:lpstr>
      <vt:lpstr>Environmental Advisory</vt:lpstr>
      <vt:lpstr>Fall Detection </vt:lpstr>
      <vt:lpstr>Fall Detection </vt:lpstr>
      <vt:lpstr>Web Page</vt:lpstr>
      <vt:lpstr>Web Page</vt:lpstr>
      <vt:lpstr>Final Outcome</vt:lpstr>
      <vt:lpstr>Problems and Solutions</vt:lpstr>
      <vt:lpstr>Future Work</vt:lpstr>
      <vt:lpstr>What I Have Learnt from This Project </vt:lpstr>
      <vt:lpstr>Thank you for listening!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Lin</dc:creator>
  <cp:lastModifiedBy>Frank Lin</cp:lastModifiedBy>
  <cp:revision>9</cp:revision>
  <dcterms:created xsi:type="dcterms:W3CDTF">2025-05-14T02:10:43Z</dcterms:created>
  <dcterms:modified xsi:type="dcterms:W3CDTF">2025-05-15T12:50:47Z</dcterms:modified>
</cp:coreProperties>
</file>